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57016"/>
            <a:ext cx="9144000" cy="1586484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</a:rPr>
              <a:t>PROCUREMENT GUIDELINES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Comprehensive Policy &amp; Process Guide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</a:rPr>
              <a:t>Establishing fair, transparent and value-driven procurement across all spend categories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[Company Name]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B8"/>
                </a:solidFill>
              </a:rPr>
              <a:t>Version 1.0  |  Effective Date: [Date]  |  Approved by: [Authorising Officer]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Purpose &amp;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554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4–5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039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Governance &amp; Authority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2677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6–8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752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Supplier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9809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9–11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465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Sourcing Methods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6941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12–15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4178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Contract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407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16–18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Ethics &amp; 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1554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19–21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993392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2039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UNSPSC &amp; Classification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0368" y="22677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22–23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706624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2752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Technology &amp; Reporting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29809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24–25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419856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3465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Exceptions &amp; Waivers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36941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26–27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133088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4178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Appendix &amp; Contacts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368" y="4407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p. 28–30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26280" y="123444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Purpose &amp;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Defining why these guidelines exist, what they cover, and who they apply to across [Company Name].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Purpose of These Guidelines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01  |  Purpose &amp;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Why This Document Exists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These Procurement Guidelines establish a consistent, transparent and accountable framework for all purchasing activity at [Company Name]. They ensure that public and organisational funds are spent wisely, suppliers are treated fairly, and decisions can withstand scrutiny.
</a:t>
            </a:r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Core Objectives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Achieve best value for money across all spend categories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Ensure compliance with applicable laws, regulations and internal policy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Promote fair and open competition among qualified suppliers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Mitigate financial, legal, reputational and operational risk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Support sustainability, diversity and ethical supply chain practices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Provide clear guidance to staff with purchasing responsibilities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Scope &amp; Applicability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01  |  Purpose &amp;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All employees, contractors and agents who commit or authorise expenditure on behalf of [Company Name]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All categories of spend: goods, services, software, works and consulting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All procurement methods from petty cash to formal tendering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All business units, subsidiaries and project entities where [Company Name] controls the purchasing 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Exclusions / Special Rules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Regulated procurement governed by specific legislation (supplements, does not replace, those rules)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Capital investment decisions subject to separate Board approval thresholds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Emergency procurement — abbreviated rules apply (see Section 09)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Inter-company transactions between wholly-owned entities — subject to Transfer Pricing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Governance &amp; Authority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Who owns procurement decisions, how authority is delegated, and the approval thresholds that apply.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Procurement Principles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02  |  Governance &amp; Authority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Value for Money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581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Select suppliers on total cost of ownership, quality, delivery and risk — not lowest price alone.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Transparency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581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Decisions must be documented, auditable and based on pre-defined criteria disclosed to all bidders.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6888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Fairness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28163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qualified suppliers must receive equal information, equal time and equal consideration.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4114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46888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Accountability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8163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Every purchase must be authorised at the correct level; approvers are personally responsible for compliance.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114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0332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Integrity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" y="4050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conflicts of interest, gifts, or improper inducements. Violations are treated as gross misconduct.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703320"/>
            <a:ext cx="4114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70332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Sustainability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4050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Preference to suppliers with credible environmental, social and governance (ESG) commitments.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Roles &amp; Responsibilities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02  |  Governance &amp; Authority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Responsibilities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Delegated Up 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Board / CEO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 policy; oversee major contracts &amp; capital spend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CFO / Finance Director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Sign off contracts above threshold; chair Procurement Committee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$[X]m+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CPO / Procurement Head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Own this policy; manage sourcing strategy and supplier relationships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$[X]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Department Heads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Raise requisitions; confirm business need; participate in evaluation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$[X]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 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Run sourcing events; negotiate; manage contracts and supplier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 delegated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Holders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Approve spend within own budget; ensure 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$[X]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End Users / Requesters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Raise purchase requests; specify requirements; confirm delivery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Requisition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Approval Thresholds &amp; Delegation of Authority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02  |  Governance &amp; Authority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 Band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Procurement Method Required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Minimum Quotes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Up to $[A]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Direct purchase / corporate card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(preferred supplier)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Holder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$[A+1] – $[B]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 written quotes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 competitive quotes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Department Head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$[B+1] – $[C]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Formal RFQ / mini-tender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3+ (documented evaluation)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CPO / Finance Dir.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$[C+1] – $[D]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 tender / RFP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Full market approach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Executive Committee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Above $[D]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Full tender + Board endorsement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Full market approach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Board / CEO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Any value — single source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Sole-source justification + waiver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CPO + CFO sign-off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Supplier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How [Company Name] qualifies, registers, evaluates and maintains relationships with its supplier base.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Supplier Qualification &amp; Registration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03  |  Supplier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57276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57276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82880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Expression of Interest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331720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Supplier submits company profile, certifications, financial statements and references via the supplier portal.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75688" y="1234440"/>
            <a:ext cx="157276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5688" y="1234440"/>
            <a:ext cx="157276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5688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182880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Due Diligence 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2331720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Procurement screens for sanctions, debarment, financial health, insurance, tax compliance and ESG standing.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85616" y="1234440"/>
            <a:ext cx="157276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85616" y="1234440"/>
            <a:ext cx="157276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58768" y="182880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Capability Assessment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58768" y="2331720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Technical evaluation against category-specific criteria; site visits or demonstrations may be required.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95544" y="1234440"/>
            <a:ext cx="157276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1234440"/>
            <a:ext cx="157276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5544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68696" y="182880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Approval &amp; Onboarding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68696" y="2331720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Approved suppliers are added to the preferred supplier list (PSL) and issued with a Supplier Code.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05472" y="1234440"/>
            <a:ext cx="157276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1234440"/>
            <a:ext cx="1572768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1234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78624" y="182880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Annual Renewal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78624" y="2331720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Suppliers must reconfirm key data annually. Failure to renew suspends the supplier from active use.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Supplier Performance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03  |  Supplier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Scorecard Dimensions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All strategic and preferred suppliers are reviewed quarterly against five dimensions: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5727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389120"/>
            <a:ext cx="15727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176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Quality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57860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Defect rate, returns, acceptance levels against specification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Quarterly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75688" y="2103120"/>
            <a:ext cx="15727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4389120"/>
            <a:ext cx="15727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176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Delivery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57860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On-time, in-full (OTIF) performance vs. agreed lead times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75688" y="4389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Quarterly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85616" y="2103120"/>
            <a:ext cx="15727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4389120"/>
            <a:ext cx="15727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2176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Commercial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58768" y="257860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Invoice accuracy, credit note ratio, pricing compliance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85616" y="4389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Quarterly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95544" y="2103120"/>
            <a:ext cx="15727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5544" y="4389120"/>
            <a:ext cx="15727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2176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Responsiveness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68696" y="257860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Response time to queries, escalations and corrective actions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95544" y="4389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Quarterly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05472" y="2103120"/>
            <a:ext cx="15727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5472" y="4389120"/>
            <a:ext cx="15727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78624" y="217627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78624" y="2578608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Adherence to contract terms, ESG commitments and audit findings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05472" y="4389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Quarterly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Preferred Supplier List (PSL) Policy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03  |  Supplier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Buy from PSL first: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For all spend categories where a PSL exists, buyers must source from approved PSL suppliers before approaching the open market.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PSL waivers: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 PSL bypass requires written justification and CPO approval. Recurring bypasses trigger PSL review.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PSL reviews: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Each category PSL is reviewed annually. Underperforming suppliers are placed on probation or removed.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New entrants: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Suppliers not on the PSL may be added following successful qualification (see Slide 11). Emergency entrants require post-event evaluation.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Market testing: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Even within PSL categories, competitive quotes must be obtained above $[B] to confirm market alignment.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Transparency: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All PSL additions, removals and waivers are logged and reported quarterly to the Procurement Committee.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03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Sourcing Methods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The right method for every purchase — from direct orders to full open tender, and everything in between.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Sourcing Methods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04  |  Sourcing Methods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When to 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Minimum Suppliers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Direct Purchase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Routine, low-value, PSL items below $[A]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Speed; PO or card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(PSL)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3-Quote Process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$[A]–$[B]; standard goods &amp; services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Competitive; informal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Request for Quotation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$[B]–$[C]; defined scope, commodity-like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Written specs + scored eval.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Request for Proposal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$[C]+; complex services, innovation required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Technical + commercial eval.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Invitation to Tender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$[C]+; construction, regulated categories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Public; sealed bids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 market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Framework / DMP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Recurrent needs; pre-agreed terms across suppliers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Call-off orders; speed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Min. 3 at setup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Sole Source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Only one capable supplier; IP lock-in; emergency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Justification + waiver req.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RFP / RFQ Process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04  |  Sourcing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2893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Define 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7373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Business need, specs, budget, timeline, evaluation criteria.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23444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12893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Approve Sourcing 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17373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Procurement validates method; budget holder confirms funding.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23444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2893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Identify Suppliers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0872" y="17373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PSL check; market scan; shortlist minimum 3 qualified suppliers.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23444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12893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Issue RFQ / RFP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9712" y="17373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Distribute package; Q&amp;A period; all clarifications shared equally.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92608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Evaluate Responses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" y="34290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 against pre-set criteria; involve cross-functional panel.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292608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92608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7180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Select &amp; Negotiate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42032" y="34290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Preferred supplier selected; BAFO if applicable; terms agreed.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92608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292608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Award &amp; Notify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90872" y="34290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Approved award letter; unsuccessful suppliers notified promptly.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2926080"/>
            <a:ext cx="20116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2926080"/>
            <a:ext cx="457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Contract &amp; Onboard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39712" y="34290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Signed contract or PO; supplier onboarded; KPIs activated.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Criteria &amp; Award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04  |  Sourcing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Criteria must be pre-defined: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Weightings and scoring rubric must be agreed before issuing the RFQ/RFP. Post-submission changes are not permitted.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Typical weighting (services):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Technical / capability 40% · Commercial / price 40% · Implementation plan 10% · ESG / risk 10%.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Typical weighting (goods):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Price / TCO 50% · Quality / spec compliance 30% · Delivery &amp; reliability 10% · ESG / risk 10%.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Evaluation panel: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Minimum two evaluators; at least one from Procurement. Panel members must sign conflict-of-interest declarations.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Award rationale: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Written recommendation required for all awards above $[B]. The record must explain why the recommended supplier offers best value.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Unsuccessful bidder feedback: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Suppliers may request a debrief within 10 business days of notification. Procurement must provide meaningful feedback.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04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Contract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Ensuring every agreement is documented, performance-managed and renewed or exited in an orderly way.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Purchase Order vs. Formal Contract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05  |  Contract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 A PURCHASE ORDER WHEN…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One-time purchase of standard goods or catalogue items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Full commercial terms captured by item, price, quantity and delivery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IP, confidential data, site access or performance obligation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Supplier accepts standard PO terms and conditions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Value below $[C] with no ongoing relationship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170432"/>
            <a:ext cx="3931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 A FORMAL CONTRACT WHEN…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Services, project milestones or any ongoing engagement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Software, SaaS, data access, hosting or system integration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Supplier handles confidential, personal or regulated data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IP ownership, licensing or use rights must be defined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Value above $[C] OR supplier presents their own paper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Contract Lifecycle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05  |  Contract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Contract repository: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All signed contracts must be uploaded to the central contracts register within 5 business days of execution.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Obligation tracking: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Key dates (expiry, renewal, break clauses, price reviews) are flagged in the system with 90-day advance alerts.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Variation management: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Any change to scope, price or term requires a signed contract amendment. Verbal agreements are not binding.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Performance reviews: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Contracts above $[B] p.a. require a minimum quarterly performance review with documented outcomes.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Renewal process: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Renewals must be considered at least 90 days before expiry. Auto-renewal clauses require CPO sign-off to activate.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Exit &amp; handover: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Exit plans are required for all critical supplier contracts. Transition and knowledge-transfer obligations must be specified in the contract.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05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Ethics &amp; Compliance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Maintaining the highest standards of integrity, preventing corruption and managing conflicts of interest.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Ethical Standards &amp; Conflict of Interest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06  |  Ethics &amp; Compliance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Zero tolerance on corruption: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Bribery, kickbacks, facilitation payments and improper gifts are strictly prohibited under all circumstances.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Gifts &amp; hospitality: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Gifts above $[gift threshold] must be declared. Hospitality from suppliers requires line-manager approval before acceptance.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Conflict of interest: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Any personal or financial interest in a supplier must be declared in writing before that procurement begins. Affected individuals must recuse themselves entirely.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Confidentiality: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Pricing, bid information and supplier data are confidential. Sharing with unauthorised parties is a disciplinary matter.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Supplier entertainment: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Staff may not solicit meals, travel or entertainment from suppliers. Unsolicited events must be declared.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Whistleblowing: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Suspected misconduct should be reported via the confidential ethics hotline. Reporters are protected from retaliation.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06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Sustainable &amp; Responsible Procurement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06  |  Ethics &amp; Compliance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Environmental criteria: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Evaluation weightings must include carbon footprint, packaging, and end-of-life disposal for relevant categories.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Social value: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Preference for suppliers with demonstrable commitments to local employment, living wages and workforce diversity.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Modern slavery: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All suppliers above $[D] must complete a Modern Slavery and Human Trafficking Declaration annually.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Supplier diversity: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[Company Name] targets [X]% of addressable spend with certified diverse, minority-owned or SME businesses by [year].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Circular economy: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Where technically feasible, preference is given to reconditioned, remanufactured or recycled goods over new production.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Scope 3 emissions: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Strategic suppliers are required to disclose Scope 1 &amp; 2 emissions and set reduction targets aligned with [Company Name]'s climate commitments.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06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UNSPSC &amp; Spend Classification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Using the UN Standard Products and Services Code hierarchy to classify, analyse and govern all spend.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UNSPSC Classification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07  |  UNSPSC &amp; Spend Classification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46304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Segment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399032"/>
            <a:ext cx="1371600" cy="566928"/>
          </a:xfrm>
          <a:prstGeom prst="rect">
            <a:avLst/>
          </a:prstGeom>
          <a:solidFill>
            <a:srgbClr val="E8F0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3990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XX000000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43000000 — IT, Printing &amp; Telecom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1463040" cy="713232"/>
          </a:xfrm>
          <a:prstGeom prst="rect">
            <a:avLst/>
          </a:prstGeom>
          <a:solidFill>
            <a:srgbClr val="1D6A8C"/>
          </a:solidFill>
          <a:ln w="12700">
            <a:solidFill>
              <a:srgbClr val="1D6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2286000"/>
            <a:ext cx="1371600" cy="566928"/>
          </a:xfrm>
          <a:prstGeom prst="rect">
            <a:avLst/>
          </a:prstGeom>
          <a:solidFill>
            <a:srgbClr val="E8F0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XXXX0000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350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43210000 — Computer Equipment &amp; Accessories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99816"/>
            <a:ext cx="14630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9981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3172968"/>
            <a:ext cx="1371600" cy="566928"/>
          </a:xfrm>
          <a:prstGeom prst="rect">
            <a:avLst/>
          </a:prstGeom>
          <a:solidFill>
            <a:srgbClr val="E8F0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1729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2369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43211500 — Computers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86784"/>
            <a:ext cx="1463040" cy="713232"/>
          </a:xfrm>
          <a:prstGeom prst="rect">
            <a:avLst/>
          </a:prstGeom>
          <a:solidFill>
            <a:srgbClr val="0A7264"/>
          </a:solidFill>
          <a:ln w="12700">
            <a:solidFill>
              <a:srgbClr val="0A72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867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Commodity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20240" y="4059936"/>
            <a:ext cx="1371600" cy="566928"/>
          </a:xfrm>
          <a:prstGeom prst="rect">
            <a:avLst/>
          </a:prstGeom>
          <a:solidFill>
            <a:srgbClr val="E8F0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0599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41239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43211503 — Notebook computers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Why it matters: UNSPSC codes drive spend analytics, contract routing, category management decisions and UNSPSC-based procurement policy thresholds.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25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Technology &amp; Reporting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The eProcurement tools, data standards and management information that underpin compliant purchasing.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eProcurement Systems &amp; Data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08  |  Technology &amp; Reporting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All purchase requisitions must be raised in the approved eProcurement system — email and verbal orders are non-compliant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Supplier master data is maintained by Procurement only; requesters may not create vendor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PO numbers must be obtained before goods or services are ordered; retrospective POs require CPO approval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The system is the system of record; paper processes require explicit exception approval and must be entered within 2 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System access is role-based; users are responsible for all transactions made under their login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Catalogue items should be purchased from within the system catalogue; off-catalogue requests require category team approval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0" cy="3566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Spend data is classified to UNSPSC commodity level for all transactions above $[A]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Monthly spend reports are distributed to department heads and category managers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The Procurement Dashboard tracks savings, compliance rate, PSL usage, and supplier diversity spend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All sourcing documents (RFPs, evaluations, award rationale) are retained for a minimum of 7 years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Data quality reviews are conducted quarterly; category managers are accountable for their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Third-party spend analytics tools may be used; data sharing must comply with the Data Governance Policy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SECTION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Exceptions &amp; Waivers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C"/>
                </a:solidFill>
              </a:rPr>
              <a:t>How [Company Name] handles emergencies, sole-source justifications and legitimate policy departures.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[Company Name]  |  Procurement Guidelines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Exceptions, Waivers &amp; Emergency Procurement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DC"/>
                </a:solidFill>
              </a:rPr>
              <a:t>Section 09  |  Exceptions &amp; Waivers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Waiver definition: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 waiver permits departure from one or more procurement requirements. It does not waive the need for authorisation or documentation.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Who can approve waivers: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Value-dependent. Waivers below $[C] require CPO sign-off. Above $[C] require CFO + CPO. No self-approval is permitted.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Sole-source justification: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Must demonstrate: only one capable supplier exists OR switching costs make competition impractical. Price reasonableness evidence is always required.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Emergency procurement: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Applies when a delay would cause material harm to operations, safety or continuity. The minimum viable process must still be followed. Full retrospective documentation required within 5 days.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Retrospective POs: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Goods or services received without a PO require a retrospective PO and a written explanation. Third occurrence by the same requester triggers a formal warning.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Waiver register: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All approved waivers are logged and reported quarterly to the Audit Committee. Patterns of excessive waivers trigger a policy review.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09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[Company Name]  |  Procurement Guidelines  |  CONFIDENTIAL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03920" y="49834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C4DC"/>
                </a:solidFill>
              </a:rPr>
              <a:t>29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Contacts, Policy Review &amp; Appendix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80467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Contacts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Chief Procurement Officer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C"/>
                </a:solidFill>
              </a:rPr>
              <a:t>[Name]  |  [email]  |  Ext [X]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 Management 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C"/>
                </a:solidFill>
              </a:rPr>
              <a:t>[email group]  |  Ext [X]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Supplier Queries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05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C"/>
                </a:solidFill>
              </a:rPr>
              <a:t>suppliers@[company].com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752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Ethics / Compliance Hotline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C"/>
                </a:solidFill>
              </a:rPr>
              <a:t>[Hotline number / portal URL]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227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eProcurement System Support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56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DC"/>
                </a:solidFill>
              </a:rPr>
              <a:t>[helpdesk email / portal]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96112"/>
            <a:ext cx="0" cy="4023360"/>
          </a:xfrm>
          <a:prstGeom prst="line">
            <a:avLst/>
          </a:prstGeom>
          <a:noFill/>
          <a:ln w="12700">
            <a:solidFill>
              <a:srgbClr val="2A52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Appendix &amp; Policy Information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325880"/>
            <a:ext cx="3749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Appendix A — Approval Authority Matrix (full)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Appendix B — Procurement Forms &amp; Templates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Appendix C — Waiver Request Form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Appendix D — Supplier Code of Conduct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Appendix E — UNSPSC Category Map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Appendix F — Related Policies &amp; Legislation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8C4DC"/>
                </a:solidFill>
              </a:rPr>
              <a:t>Policy owner: Chief Procurement Officer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8C4DC"/>
                </a:solidFill>
              </a:rPr>
              <a:t>Review cycle: Annual (or after material change)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8C4DC"/>
                </a:solidFill>
              </a:rPr>
              <a:t>Next scheduled review: [Date]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F8A"/>
                </a:solidFill>
              </a:rPr>
              <a:t>These guidelines are effective from [Date] and supersede all previous procurement policy documents.  |  Version 1.0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Guidelines</dc:title>
  <dc:subject>PptxGenJS Presentation</dc:subject>
  <dc:creator>[Company Name]</dc:creator>
  <cp:lastModifiedBy>[Company Name]</cp:lastModifiedBy>
  <cp:revision>1</cp:revision>
  <dcterms:created xsi:type="dcterms:W3CDTF">2026-04-13T05:08:11Z</dcterms:created>
  <dcterms:modified xsi:type="dcterms:W3CDTF">2026-04-13T05:08:11Z</dcterms:modified>
</cp:coreProperties>
</file>