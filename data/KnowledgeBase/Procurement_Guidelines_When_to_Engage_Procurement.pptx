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outlineViewPr/>
  <p:notesTextViewPr/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slide" Target="slides/slide19.xml"/>
  <Relationship Id="rId21" Type="http://schemas.openxmlformats.org/officeDocument/2006/relationships/slide" Target="slides/slide20.xml"/>
  <Relationship Id="rId22" Type="http://schemas.openxmlformats.org/officeDocument/2006/relationships/slide" Target="slides/slide21.xml"/>
  <Relationship Id="rId23" Type="http://schemas.openxmlformats.org/officeDocument/2006/relationships/slide" Target="slides/slide22.xml"/>
  <Relationship Id="rId24" Type="http://schemas.openxmlformats.org/officeDocument/2006/relationships/slide" Target="slides/slide23.xml"/>
  <Relationship Id="rId25" Type="http://schemas.openxmlformats.org/officeDocument/2006/relationships/slide" Target="slides/slide24.xml"/>
  <Relationship Id="rId26" Type="http://schemas.openxmlformats.org/officeDocument/2006/relationships/slide" Target="slides/slide25.xml"/>
  <Relationship Id="rId27" Type="http://schemas.openxmlformats.org/officeDocument/2006/relationships/slide" Target="slides/slide26.xml"/>
  <Relationship Id="rId28" Type="http://schemas.openxmlformats.org/officeDocument/2006/relationships/slide" Target="slides/slide27.xml"/>
  <Relationship Id="rId29" Type="http://schemas.openxmlformats.org/officeDocument/2006/relationships/slide" Target="slides/slide28.xml"/>
  <Relationship Id="rId30" Type="http://schemas.openxmlformats.org/officeDocument/2006/relationships/slide" Target="slides/slide29.xml"/>
  <Relationship Id="rId31" Type="http://schemas.openxmlformats.org/officeDocument/2006/relationships/slide" Target="slides/slide30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1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When to Engage Procurement</a:t>
            </a:r>
            <a:endParaRPr lang="en-US"/>
          </a:p>
        </p:txBody>
      </p:sp>
      <p:sp>
        <p:nvSpPr>
          <p:cNvPr id="3" name="Body 1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30-slide quick guide for business teams and requesters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Built from public procurement planning and compliance guidance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Focus: when Procurement should be brought in early, not after the fact</a:t>
            </a:r>
            <a:endParaRPr lang="en-US" sz="1800"/>
          </a:p>
        </p:txBody>
      </p:sp>
      <p:sp>
        <p:nvSpPr>
          <p:cNvPr id="4" name="Footer 1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1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2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Why Early Engagement Matters</a:t>
            </a:r>
            <a:endParaRPr lang="en-US"/>
          </a:p>
        </p:txBody>
      </p:sp>
      <p:sp>
        <p:nvSpPr>
          <p:cNvPr id="3" name="Body 2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Reduces rework, delays, and non-compliant buying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Improves sourcing strategy, pricing leverage, and supplier competition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Helps define scope, route approvals, and avoid rushed exceptions</a:t>
            </a:r>
            <a:endParaRPr lang="en-US" sz="1800"/>
          </a:p>
        </p:txBody>
      </p:sp>
      <p:sp>
        <p:nvSpPr>
          <p:cNvPr id="4" name="Footer 2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3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Simple Rule</a:t>
            </a:r>
            <a:endParaRPr lang="en-US"/>
          </a:p>
        </p:txBody>
      </p:sp>
      <p:sp>
        <p:nvSpPr>
          <p:cNvPr id="3" name="Body 3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If the request is more than a basic low-risk catalog buy, engage Procurement early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The more complex, regulated, high-value, or strategic the purchase, the earlier Procurement should be involved</a:t>
            </a:r>
            <a:endParaRPr lang="en-US" sz="1800"/>
          </a:p>
        </p:txBody>
      </p:sp>
      <p:sp>
        <p:nvSpPr>
          <p:cNvPr id="4" name="Footer 3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4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Procurement At The Idea Stage</a:t>
            </a:r>
            <a:endParaRPr lang="en-US"/>
          </a:p>
        </p:txBody>
      </p:sp>
      <p:sp>
        <p:nvSpPr>
          <p:cNvPr id="3" name="Body 4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New project or new supplier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Budget is being shaped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Requirements are still being defined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Stakeholders are deciding buy, build, renew, or extend</a:t>
            </a:r>
            <a:endParaRPr lang="en-US" sz="1800"/>
          </a:p>
        </p:txBody>
      </p:sp>
      <p:sp>
        <p:nvSpPr>
          <p:cNvPr id="4" name="Footer 4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5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Before Contacting Suppliers</a:t>
            </a:r>
            <a:endParaRPr lang="en-US"/>
          </a:p>
        </p:txBody>
      </p:sp>
      <p:sp>
        <p:nvSpPr>
          <p:cNvPr id="3" name="Body 5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Before requesting pricing outside approved channels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Before promising business or asking for a proposal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Before receiving supplier paper that may create a contracting issue</a:t>
            </a:r>
            <a:endParaRPr lang="en-US" sz="1800"/>
          </a:p>
        </p:txBody>
      </p:sp>
      <p:sp>
        <p:nvSpPr>
          <p:cNvPr id="4" name="Footer 5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6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For New Suppliers</a:t>
            </a:r>
            <a:endParaRPr lang="en-US"/>
          </a:p>
        </p:txBody>
      </p:sp>
      <p:sp>
        <p:nvSpPr>
          <p:cNvPr id="3" name="Body 6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Supplier onboarding is needed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Tax, banking, sanctions, or due diligence checks are required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Business wants to move quickly but supplier setup is not complete</a:t>
            </a:r>
            <a:endParaRPr lang="en-US" sz="1800"/>
          </a:p>
        </p:txBody>
      </p:sp>
      <p:sp>
        <p:nvSpPr>
          <p:cNvPr id="4" name="Footer 6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7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For Higher Value Buys</a:t>
            </a:r>
            <a:endParaRPr lang="en-US"/>
          </a:p>
        </p:txBody>
      </p:sp>
      <p:sp>
        <p:nvSpPr>
          <p:cNvPr id="3" name="Body 7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Larger purchases usually require more quotes, formal competition, or documented exceptions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If internal thresholds may be crossed, Procurement should confirm the correct process before the request advances</a:t>
            </a:r>
            <a:endParaRPr lang="en-US" sz="1800"/>
          </a:p>
        </p:txBody>
      </p:sp>
      <p:sp>
        <p:nvSpPr>
          <p:cNvPr id="4" name="Footer 7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8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For Competitive Events</a:t>
            </a:r>
            <a:endParaRPr lang="en-US"/>
          </a:p>
        </p:txBody>
      </p:sp>
      <p:sp>
        <p:nvSpPr>
          <p:cNvPr id="3" name="Body 8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When the business wants multiple bids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When evaluation criteria must be documented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When fairness, transparency, or auditability matter</a:t>
            </a:r>
            <a:endParaRPr lang="en-US" sz="1800"/>
          </a:p>
        </p:txBody>
      </p:sp>
      <p:sp>
        <p:nvSpPr>
          <p:cNvPr id="4" name="Footer 8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9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For Services</a:t>
            </a:r>
            <a:endParaRPr lang="en-US"/>
          </a:p>
        </p:txBody>
      </p:sp>
      <p:sp>
        <p:nvSpPr>
          <p:cNvPr id="3" name="Body 9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Consulting, staffing, engineering, training, maintenance, logistics, managed services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Services need scope, deliverables, milestones, and acceptance criteria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A PO alone is often not enough</a:t>
            </a:r>
            <a:endParaRPr lang="en-US" sz="1800"/>
          </a:p>
        </p:txBody>
      </p:sp>
      <p:sp>
        <p:nvSpPr>
          <p:cNvPr id="4" name="Footer 9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10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For Software And SaaS</a:t>
            </a:r>
            <a:endParaRPr lang="en-US"/>
          </a:p>
        </p:txBody>
      </p:sp>
      <p:sp>
        <p:nvSpPr>
          <p:cNvPr id="3" name="Body 10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Software license, subscription, cloud, hosting, support, or implementation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Procurement should align commercial terms with Legal, Security, Privacy, and IT</a:t>
            </a:r>
            <a:endParaRPr lang="en-US" sz="1800"/>
          </a:p>
        </p:txBody>
      </p:sp>
      <p:sp>
        <p:nvSpPr>
          <p:cNvPr id="4" name="Footer 10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11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For Data Or Privacy Risk</a:t>
            </a:r>
            <a:endParaRPr lang="en-US"/>
          </a:p>
        </p:txBody>
      </p:sp>
      <p:sp>
        <p:nvSpPr>
          <p:cNvPr id="3" name="Body 11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Supplier will access confidential, customer, employee, financial, health, or research data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Security, privacy, breach, and data-processing terms must be handled before award</a:t>
            </a:r>
            <a:endParaRPr lang="en-US" sz="1800"/>
          </a:p>
        </p:txBody>
      </p:sp>
      <p:sp>
        <p:nvSpPr>
          <p:cNvPr id="4" name="Footer 11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12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For Contracting</a:t>
            </a:r>
            <a:endParaRPr lang="en-US"/>
          </a:p>
        </p:txBody>
      </p:sp>
      <p:sp>
        <p:nvSpPr>
          <p:cNvPr id="3" name="Body 12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Supplier asks for signature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Supplier sends terms and conditions, MSA, SOW, order form, or quote with legal language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Business wants to start work before terms are finalized</a:t>
            </a:r>
            <a:endParaRPr lang="en-US" sz="1800"/>
          </a:p>
        </p:txBody>
      </p:sp>
      <p:sp>
        <p:nvSpPr>
          <p:cNvPr id="4" name="Footer 12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12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13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For Renewals</a:t>
            </a:r>
            <a:endParaRPr lang="en-US"/>
          </a:p>
        </p:txBody>
      </p:sp>
      <p:sp>
        <p:nvSpPr>
          <p:cNvPr id="3" name="Body 13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Contract expiry is approaching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Auto-renewal exists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Price increase, scope change, or new stakeholder needs must be reviewed before renewal</a:t>
            </a:r>
            <a:endParaRPr lang="en-US" sz="1800"/>
          </a:p>
        </p:txBody>
      </p:sp>
      <p:sp>
        <p:nvSpPr>
          <p:cNvPr id="4" name="Footer 13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13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14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For Sole Source</a:t>
            </a:r>
            <a:endParaRPr lang="en-US"/>
          </a:p>
        </p:txBody>
      </p:sp>
      <p:sp>
        <p:nvSpPr>
          <p:cNvPr id="3" name="Body 14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Only one supplier appears viable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Business wants to waive competition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Justification and exception workflow may be required</a:t>
            </a:r>
            <a:endParaRPr lang="en-US" sz="1800"/>
          </a:p>
        </p:txBody>
      </p:sp>
      <p:sp>
        <p:nvSpPr>
          <p:cNvPr id="4" name="Footer 14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14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15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For Urgent Requests</a:t>
            </a:r>
            <a:endParaRPr lang="en-US"/>
          </a:p>
        </p:txBody>
      </p:sp>
      <p:sp>
        <p:nvSpPr>
          <p:cNvPr id="3" name="Body 15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Procurement should still be engaged even when timing is tight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Urgency is a planning signal, not a reason to bypass controls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Early escalation gives the best chance of compliant fast-tracking</a:t>
            </a:r>
            <a:endParaRPr lang="en-US" sz="1800"/>
          </a:p>
        </p:txBody>
      </p:sp>
      <p:sp>
        <p:nvSpPr>
          <p:cNvPr id="4" name="Footer 15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15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16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For Scope Changes</a:t>
            </a:r>
            <a:endParaRPr lang="en-US"/>
          </a:p>
        </p:txBody>
      </p:sp>
      <p:sp>
        <p:nvSpPr>
          <p:cNvPr id="3" name="Body 16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Existing supplier is adding new work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Volume, term, price, geography, or deliverables are changing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Change orders and amendments may need Procurement review</a:t>
            </a:r>
            <a:endParaRPr lang="en-US" sz="1800"/>
          </a:p>
        </p:txBody>
      </p:sp>
      <p:sp>
        <p:nvSpPr>
          <p:cNvPr id="4" name="Footer 16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16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17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For Risky Supplier Terms</a:t>
            </a:r>
            <a:endParaRPr lang="en-US"/>
          </a:p>
        </p:txBody>
      </p:sp>
      <p:sp>
        <p:nvSpPr>
          <p:cNvPr id="3" name="Body 17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Auto-renewal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Unlimited use restrictions or unfavorable IP terms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Broad disclaimers, weak SLAs, or restrictive liability caps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Advance payment or unusual commercial structure</a:t>
            </a:r>
            <a:endParaRPr lang="en-US" sz="1800"/>
          </a:p>
        </p:txBody>
      </p:sp>
      <p:sp>
        <p:nvSpPr>
          <p:cNvPr id="4" name="Footer 17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17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18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For Regulated Or Safety Critical Purchases</a:t>
            </a:r>
            <a:endParaRPr lang="en-US"/>
          </a:p>
        </p:txBody>
      </p:sp>
      <p:sp>
        <p:nvSpPr>
          <p:cNvPr id="3" name="Body 18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Healthcare, lab, construction, hazardous materials, site work, export controls, or regulated categories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Procurement helps coordinate the right review path and required clauses</a:t>
            </a:r>
            <a:endParaRPr lang="en-US" sz="1800"/>
          </a:p>
        </p:txBody>
      </p:sp>
      <p:sp>
        <p:nvSpPr>
          <p:cNvPr id="4" name="Footer 18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18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19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Engage For Cross Functional Review</a:t>
            </a:r>
            <a:endParaRPr lang="en-US"/>
          </a:p>
        </p:txBody>
      </p:sp>
      <p:sp>
        <p:nvSpPr>
          <p:cNvPr id="3" name="Body 19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Legal for contract language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InfoSec or Privacy for data handling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Finance for budget and payment structure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Operations for implementation impact</a:t>
            </a:r>
            <a:endParaRPr lang="en-US" sz="1800"/>
          </a:p>
        </p:txBody>
      </p:sp>
      <p:sp>
        <p:nvSpPr>
          <p:cNvPr id="4" name="Footer 19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19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20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When Procurement May Not Need Full Involvement</a:t>
            </a:r>
            <a:endParaRPr lang="en-US"/>
          </a:p>
        </p:txBody>
      </p:sp>
      <p:sp>
        <p:nvSpPr>
          <p:cNvPr id="3" name="Body 20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Low-value approved catalog buy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Existing approved contract and supplier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Clear scope, standard terms, and no new risk trigger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Even then, follow policy and threshold rules</a:t>
            </a:r>
            <a:endParaRPr lang="en-US" sz="1800"/>
          </a:p>
        </p:txBody>
      </p:sp>
      <p:sp>
        <p:nvSpPr>
          <p:cNvPr id="4" name="Footer 20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20</a:t>
            </a:r>
            <a:endParaRPr lang="en-US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21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What Procurement Typically Needs From The Business</a:t>
            </a:r>
            <a:endParaRPr lang="en-US"/>
          </a:p>
        </p:txBody>
      </p:sp>
      <p:sp>
        <p:nvSpPr>
          <p:cNvPr id="3" name="Body 21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Business need and outcome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Budget and timing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Scope or specification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Preferred supplier status if any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Key stakeholders and approval owner</a:t>
            </a:r>
            <a:endParaRPr lang="en-US" sz="1800"/>
          </a:p>
        </p:txBody>
      </p:sp>
      <p:sp>
        <p:nvSpPr>
          <p:cNvPr id="4" name="Footer 21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21</a:t>
            </a:r>
            <a:endParaRPr lang="en-US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22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Good Intake Questions</a:t>
            </a:r>
            <a:endParaRPr lang="en-US"/>
          </a:p>
        </p:txBody>
      </p:sp>
      <p:sp>
        <p:nvSpPr>
          <p:cNvPr id="3" name="Body 22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What are we buying and why now?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Is this goods, services, software, or a mixed deal?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Will the supplier access data or facilities?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Do we need competition, a contract, or an exception?</a:t>
            </a:r>
            <a:endParaRPr lang="en-US" sz="1800"/>
          </a:p>
        </p:txBody>
      </p:sp>
      <p:sp>
        <p:nvSpPr>
          <p:cNvPr id="4" name="Footer 22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22</a:t>
            </a:r>
            <a:endParaRPr lang="en-US"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23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Common Late Engagement Problems</a:t>
            </a:r>
            <a:endParaRPr lang="en-US"/>
          </a:p>
        </p:txBody>
      </p:sp>
      <p:sp>
        <p:nvSpPr>
          <p:cNvPr id="3" name="Body 23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Supplier already selected before process review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Quotes not comparable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Budget approved without total cost visibility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Contract review starts after work is expected to begin</a:t>
            </a:r>
            <a:endParaRPr lang="en-US" sz="1800"/>
          </a:p>
        </p:txBody>
      </p:sp>
      <p:sp>
        <p:nvSpPr>
          <p:cNvPr id="4" name="Footer 23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23</a:t>
            </a:r>
            <a:endParaRPr lang="en-US"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24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Red Flags</a:t>
            </a:r>
            <a:endParaRPr lang="en-US"/>
          </a:p>
        </p:txBody>
      </p:sp>
      <p:sp>
        <p:nvSpPr>
          <p:cNvPr id="3" name="Body 24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Business says we just need a PO but the supplier sent a contract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Requester says work starts next week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Supplier will touch personal or confidential data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No one can explain the sourcing rationale or evaluation basis</a:t>
            </a:r>
            <a:endParaRPr lang="en-US" sz="1800"/>
          </a:p>
        </p:txBody>
      </p:sp>
      <p:sp>
        <p:nvSpPr>
          <p:cNvPr id="4" name="Footer 24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24</a:t>
            </a:r>
            <a:endParaRPr lang="en-US"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25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Practical Trigger Matrix</a:t>
            </a:r>
            <a:endParaRPr lang="en-US"/>
          </a:p>
        </p:txBody>
      </p:sp>
      <p:sp>
        <p:nvSpPr>
          <p:cNvPr id="3" name="Body 25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Low complexity + low value + standard goods = often PO route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Medium complexity or value = involve Procurement for route check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High complexity, high value, services, software, or risk = engage Procurement immediately</a:t>
            </a:r>
            <a:endParaRPr lang="en-US" sz="1800"/>
          </a:p>
        </p:txBody>
      </p:sp>
      <p:sp>
        <p:nvSpPr>
          <p:cNvPr id="4" name="Footer 25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25</a:t>
            </a:r>
            <a:endParaRPr lang="en-US"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26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Suggested Timeline</a:t>
            </a:r>
            <a:endParaRPr lang="en-US"/>
          </a:p>
        </p:txBody>
      </p:sp>
      <p:sp>
        <p:nvSpPr>
          <p:cNvPr id="3" name="Body 26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30 to 60 days: simple sourcing with low legal complexity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60 to 120 days: competitive events, new suppliers, or negotiated contracts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120+ days: strategic, regulated, global, or highly integrated procurements</a:t>
            </a:r>
            <a:endParaRPr lang="en-US" sz="1800"/>
          </a:p>
        </p:txBody>
      </p:sp>
      <p:sp>
        <p:nvSpPr>
          <p:cNvPr id="4" name="Footer 26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26</a:t>
            </a:r>
            <a:endParaRPr lang="en-US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27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Role Of Procurement</a:t>
            </a:r>
            <a:endParaRPr lang="en-US"/>
          </a:p>
        </p:txBody>
      </p:sp>
      <p:sp>
        <p:nvSpPr>
          <p:cNvPr id="3" name="Body 27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Guide the sourcing process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Protect commercial position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Improve competition and supplier quality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Coordinate governance without slowing the business unnecessarily</a:t>
            </a:r>
            <a:endParaRPr lang="en-US" sz="1800"/>
          </a:p>
        </p:txBody>
      </p:sp>
      <p:sp>
        <p:nvSpPr>
          <p:cNvPr id="4" name="Footer 27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27</a:t>
            </a:r>
            <a:endParaRPr lang="en-US"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28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What Requesters Should Do</a:t>
            </a:r>
            <a:endParaRPr lang="en-US"/>
          </a:p>
        </p:txBody>
      </p:sp>
      <p:sp>
        <p:nvSpPr>
          <p:cNvPr id="3" name="Body 28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Plan earlier than feels necessary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Bring Procurement in before supplier commitment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Share full context, not just the quote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Raise urgency and exceptions openly</a:t>
            </a:r>
            <a:endParaRPr lang="en-US" sz="1800"/>
          </a:p>
        </p:txBody>
      </p:sp>
      <p:sp>
        <p:nvSpPr>
          <p:cNvPr id="4" name="Footer 28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28</a:t>
            </a:r>
            <a:endParaRPr lang="en-US" sz="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29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Bottom Line</a:t>
            </a:r>
            <a:endParaRPr lang="en-US"/>
          </a:p>
        </p:txBody>
      </p:sp>
      <p:sp>
        <p:nvSpPr>
          <p:cNvPr id="3" name="Body 29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Engage Procurement when the purchase is strategic, complex, high-value, service-based, data-sensitive, contractual, or time-critical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If there is any doubt, engage early and let Procurement route it correctly</a:t>
            </a:r>
            <a:endParaRPr lang="en-US" sz="1800"/>
          </a:p>
        </p:txBody>
      </p:sp>
      <p:sp>
        <p:nvSpPr>
          <p:cNvPr id="4" name="Footer 29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29</a:t>
            </a:r>
            <a:endParaRPr lang="en-US"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457200" y="228600"/>
            <a:ext cx="2100000" cy="91440"/>
          </a:xfrm>
          <a:prstGeom prst="rect">
            <a:avLst/>
          </a:prstGeom>
          <a:solidFill>
            <a:srgbClr val="2F5D62"/>
          </a:solidFill>
        </p:spPr>
      </p:sp>
      <p:sp>
        <p:nvSpPr>
          <p:cNvPr id="2" name="Title 30"/>
          <p:cNvSpPr/>
          <p:nvPr/>
        </p:nvSpPr>
        <p:spPr>
          <a:xfrm>
            <a:off x="457200" y="274320"/>
            <a:ext cx="11277600" cy="914400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b="1"/>
              <a:t>Public Guidance Used</a:t>
            </a:r>
            <a:endParaRPr lang="en-US"/>
          </a:p>
        </p:txBody>
      </p:sp>
      <p:sp>
        <p:nvSpPr>
          <p:cNvPr id="3" name="Body 30"/>
          <p:cNvSpPr txBox="1"/>
          <p:nvPr/>
        </p:nvSpPr>
        <p:spPr>
          <a:xfrm>
            <a:off x="640080" y="1463040"/>
            <a:ext cx="10820400" cy="4389120"/>
          </a:xfrm>
          <a:prstGeom prst="rect">
            <a:avLst/>
          </a:prstGeom>
          <a:solidFill>
            <a:srgbClr val="FFFDF9"/>
          </a:solidFill>
          <a:ln>
            <a:solidFill>
              <a:srgbClr val="D9CFC0"/>
            </a:solidFill>
          </a:ln>
        </p:spPr>
        <p:txBody>
          <a:bodyPr wrap="square" lIns="228600" tIns="137160" rIns="228600" bIns="137160"/>
          <a:lstStyle/>
          <a:p>
            <a:pPr lvl="0" marL="342900" indent="-285750">
              <a:buChar char="•"/>
            </a:pPr>
            <a:r>
              <a:rPr lang="en-US" sz="1800"/>
              <a:t>US EPA procurement best practices on starting early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University of Kansas Procurement compliance guidance on thresholds and quotes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GOV.UK and WA Government guidance on planning and early market engagement</a:t>
            </a:r>
            <a:endParaRPr lang="en-US" sz="1800"/>
          </a:p>
          <a:p>
            <a:pPr lvl="0" marL="342900" indent="-285750">
              <a:buChar char="•"/>
            </a:pPr>
            <a:r>
              <a:rPr lang="en-US" sz="1800"/>
              <a:t>Deck adapted into a new internal-use summary</a:t>
            </a:r>
            <a:endParaRPr lang="en-US" sz="1800"/>
          </a:p>
        </p:txBody>
      </p:sp>
      <p:sp>
        <p:nvSpPr>
          <p:cNvPr id="4" name="Footer 30"/>
          <p:cNvSpPr txBox="1"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</p:spPr>
        <p:txBody>
          <a:bodyPr/>
          <a:lstStyle/>
          <a:p>
            <a:r>
              <a:rPr lang="en-US" sz="900"/>
              <a:t>Procurement engagement guide | Slide 30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Theme">
  <a:themeElements>
    <a:clrScheme name="Simple">
      <a:dk1>
        <a:srgbClr val="1F1F1F"/>
      </a:dk1>
      <a:lt1>
        <a:srgbClr val="FFFFFF"/>
      </a:lt1>
      <a:dk2>
        <a:srgbClr val="2F5D62"/>
      </a:dk2>
      <a:lt2>
        <a:srgbClr val="F5F1E8"/>
      </a:lt2>
      <a:accent1>
        <a:srgbClr val="2F5D62"/>
      </a:accent1>
      <a:accent2>
        <a:srgbClr val="5E8B7E"/>
      </a:accent2>
      <a:accent3>
        <a:srgbClr val="A7C4BC"/>
      </a:accent3>
      <a:accent4>
        <a:srgbClr val="DFEEEA"/>
      </a:accent4>
      <a:accent5>
        <a:srgbClr val="C7B198"/>
      </a:accent5>
      <a:accent6>
        <a:srgbClr val="596E79"/>
      </a:accent6>
      <a:hlink>
        <a:srgbClr val="0563C1"/>
      </a:hlink>
      <a:folHlink>
        <a:srgbClr val="954F72"/>
      </a:folHlink>
    </a:clrScheme>
    <a:fontScheme name="Simpl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Simp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  <a:solidFill>
          <a:schemeClr val="lt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30</Slides>
  <Notes>0</Notes>
  <HiddenSlides>0</HiddenSlides>
  <MMClips>0</MMClips>
  <ScaleCrop>false</ScaleCrop>
  <HeadingPairs>
    <vt:vector size="2" baseType="variant">
      <vt:variant>
        <vt:lpstr>Slide Titles</vt:lpstr>
      </vt:variant>
      <vt:variant>
        <vt:i4>30</vt:i4>
      </vt:variant>
    </vt:vector>
  </HeadingPairs>
  <TitlesOfParts>
    <vt:vector size="30" baseType="lpstr">
      <vt:lpstr>When to Engage Procurement</vt:lpstr>
      <vt:lpstr>Why Early Engagement Matters</vt:lpstr>
      <vt:lpstr>Simple Rule</vt:lpstr>
      <vt:lpstr>Engage Procurement At The Idea Stage</vt:lpstr>
      <vt:lpstr>Engage Before Contacting Suppliers</vt:lpstr>
      <vt:lpstr>Engage For New Suppliers</vt:lpstr>
      <vt:lpstr>Engage For Higher Value Buys</vt:lpstr>
      <vt:lpstr>Engage For Competitive Events</vt:lpstr>
      <vt:lpstr>Engage For Services</vt:lpstr>
      <vt:lpstr>Engage For Software And SaaS</vt:lpstr>
      <vt:lpstr>Engage For Data Or Privacy Risk</vt:lpstr>
      <vt:lpstr>Engage For Contracting</vt:lpstr>
      <vt:lpstr>Engage For Renewals</vt:lpstr>
      <vt:lpstr>Engage For Sole Source</vt:lpstr>
      <vt:lpstr>Engage For Urgent Requests</vt:lpstr>
      <vt:lpstr>Engage For Scope Changes</vt:lpstr>
      <vt:lpstr>Engage For Risky Supplier Terms</vt:lpstr>
      <vt:lpstr>Engage For Regulated Or Safety Critical Purchases</vt:lpstr>
      <vt:lpstr>Engage For Cross Functional Review</vt:lpstr>
      <vt:lpstr>When Procurement May Not Need Full Involvement</vt:lpstr>
      <vt:lpstr>What Procurement Typically Needs From The Business</vt:lpstr>
      <vt:lpstr>Good Intake Questions</vt:lpstr>
      <vt:lpstr>Common Late Engagement Problems</vt:lpstr>
      <vt:lpstr>Red Flags</vt:lpstr>
      <vt:lpstr>Practical Trigger Matrix</vt:lpstr>
      <vt:lpstr>Suggested Timeline</vt:lpstr>
      <vt:lpstr>Role Of Procurement</vt:lpstr>
      <vt:lpstr>What Requesters Should Do</vt:lpstr>
      <vt:lpstr>Bottom Line</vt:lpstr>
      <vt:lpstr>Public Guidance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to Engage Procurement</dc:title>
  <dc:subject>Procurement engagement guidelines</dc:subject>
  <dc:creator>OpenAI Codex</dc:creator>
  <cp:lastModifiedBy>OpenAI Codex</cp:lastModifiedBy>
  <dcterms:created xsi:type="dcterms:W3CDTF">2026-04-13T05:22:08Z</dcterms:created>
  <dcterms:modified xsi:type="dcterms:W3CDTF">2026-04-13T05:22:08Z</dcterms:modified>
</cp:coreProperties>
</file>