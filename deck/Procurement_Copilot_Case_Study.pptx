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Calibri"/>
              </a:rPr>
              <a:t>Pipeline metrics (%) — 15-question eval 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0C2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Router
accuracy</c:v>
                  </c:pt>
                  <c:pt idx="1">
                    <c:v>Retrieval
hit-rate</c:v>
                  </c:pt>
                  <c:pt idx="2">
                    <c:v>Policy
groundedness</c:v>
                  </c:pt>
                  <c:pt idx="3">
                    <c:v>Data
groundedness</c:v>
                  </c:pt>
                  <c:pt idx="4">
                    <c:v>Refusal
correctness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86.7</c:v>
                </c:pt>
                <c:pt idx="1">
                  <c:v>83.3</c:v>
                </c:pt>
                <c:pt idx="2">
                  <c:v>57.1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18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1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3355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914400"/>
            <a:ext cx="3840480" cy="3840480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PROCUREMENT AI &amp; ANALYTICS LEAD  ·  CASE STUDY  ·  REQ-10069230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Copilot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AI helpdesk that answers procurement questions — grounded in real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documents and real spend data, with built-in fact-checking before any answer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the user.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658368" cy="65836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524" y="4056644"/>
            <a:ext cx="500360" cy="500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400507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Janakiram Pulipati
</a:t>
            </a:r>
            <a:pPr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submission · July 2026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5074920"/>
            <a:ext cx="10698480" cy="1143000"/>
          </a:xfrm>
          <a:prstGeom prst="rect">
            <a:avLst>
              <a:gd name="adj" fmla="val 6400"/>
            </a:avLst>
          </a:prstGeom>
          <a:solidFill>
            <a:srgbClr val="0F2D52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5074920"/>
            <a:ext cx="10149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novartis-assignment.vercel.app</a:t>
            </a:r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Source: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github.com/janakiramvit/procurement-genai-case-study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Copilot — Novartis Case Study REQ-10069230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Procurement's front line is buried in tribal knowledge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74720" cy="2331720"/>
          </a:xfrm>
          <a:prstGeom prst="rect">
            <a:avLst>
              <a:gd name="adj" fmla="val 2353"/>
            </a:avLst>
          </a:prstGeom>
          <a:solidFill>
            <a:srgbClr val="EEF3F8"/>
          </a:solidFill>
          <a:ln/>
          <a:effectLst>
            <a:outerShdw sx="100000" sy="100000" kx="0" ky="0" algn="bl" rotWithShape="0" blurRad="76200" dist="25400" dir="5400000">
              <a:srgbClr val="9CB3C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67128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279" y="2235159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834640"/>
            <a:ext cx="2889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documents,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formats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356616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PDFs, Ariba/Icertis guides, a UNSPSC reference, and slide decks — the answer to "do I need a contract?" is scattered across all of them.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474720" cy="2331720"/>
          </a:xfrm>
          <a:prstGeom prst="rect">
            <a:avLst>
              <a:gd name="adj" fmla="val 2353"/>
            </a:avLst>
          </a:prstGeom>
          <a:solidFill>
            <a:srgbClr val="EEF3F8"/>
          </a:solidFill>
          <a:ln/>
          <a:effectLst>
            <a:outerShdw sx="100000" sy="100000" kx="0" ky="0" algn="bl" rotWithShape="0" blurRad="76200" dist="25400" dir="5400000">
              <a:srgbClr val="9CB3CC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2167128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039" y="2235159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2834640"/>
            <a:ext cx="2889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152K+ PO line items,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2.5K invoices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36008" y="356616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SAP Ariba-style spend and invoice history, sitting in raw exports nobody outside analytics can query.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474720" cy="2331720"/>
          </a:xfrm>
          <a:prstGeom prst="rect">
            <a:avLst>
              <a:gd name="adj" fmla="val 2353"/>
            </a:avLst>
          </a:prstGeom>
          <a:solidFill>
            <a:srgbClr val="EEF3F8"/>
          </a:solidFill>
          <a:ln/>
          <a:effectLst>
            <a:outerShdw sx="100000" sy="100000" kx="0" ky="0" algn="bl" rotWithShape="0" blurRad="76200" dist="25400" dir="5400000">
              <a:srgbClr val="9CB3CC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2167128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799" y="2235159"/>
            <a:ext cx="430865" cy="4308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0768" y="2834640"/>
            <a:ext cx="2889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question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an email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30768" y="356616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to buy laptops for $70k — do I need a contract, a PO, or to engage procurement?" Today, that's a ticket to a human.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526280"/>
            <a:ext cx="11064240" cy="1417320"/>
          </a:xfrm>
          <a:prstGeom prst="rect">
            <a:avLst>
              <a:gd name="adj" fmla="val 3871"/>
            </a:avLst>
          </a:prstGeom>
          <a:solidFill>
            <a:srgbClr val="0B2545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4690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QUESTIONS FROM THE BRIEF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68680" y="498348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to buy laptops in the USA for $70k — do I need a contract, a PO, or to engage procurement?”
</a:t>
            </a:r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to add a supplier to the current sourcing event — how do I do it?”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Copilot — Novartis Case Study REQ-10069230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chat interface, three things it's actually good 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68680" cy="86868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2070202"/>
            <a:ext cx="660197" cy="6601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9385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Q&amp;A, with citations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2404872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from the real KnowledgeBase corpus and answers only from what it finds — every claim links back to a source document.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456432"/>
            <a:ext cx="868680" cy="86868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2" y="3560674"/>
            <a:ext cx="660197" cy="6601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&amp; PO analytics, on demand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91640" y="3895344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and safely executes SQL against 152K+ purchase order rows and 2.5K invoices — no analyst required for "what did we spend with IBM?"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946904"/>
            <a:ext cx="868680" cy="868680"/>
          </a:xfrm>
          <a:prstGeom prst="ellipse">
            <a:avLst/>
          </a:prstGeom>
          <a:solidFill>
            <a:srgbClr val="E8935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2" y="5051146"/>
            <a:ext cx="660197" cy="66019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91947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by design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91640" y="5385816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groundedness gate checks every answer before it ships. If it can't verify an answer, it says so and recommends escalating — it does not guess.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Copilot — Novartis Case Study REQ-10069230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built, and where this goes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4251960"/>
          </a:xfrm>
          <a:prstGeom prst="rect">
            <a:avLst>
              <a:gd name="adj" fmla="val 1565"/>
            </a:avLst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30552"/>
            <a:ext cx="2993136" cy="384048"/>
          </a:xfrm>
          <a:prstGeom prst="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30552"/>
            <a:ext cx="2993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 — BUILT NOW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" y="2743200"/>
            <a:ext cx="29565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→ RAG agent / SQL agent → groundedness QA gate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Multi-agent, not one mega-prompt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— single shared L1 desk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 on Vercel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15-question offline eval harness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8160" y="1874520"/>
            <a:ext cx="3505200" cy="4251960"/>
          </a:xfrm>
          <a:prstGeom prst="rect">
            <a:avLst>
              <a:gd name="adj" fmla="val 1565"/>
            </a:avLst>
          </a:prstGeom>
          <a:solidFill>
            <a:srgbClr val="EEF3F8"/>
          </a:solidFill>
          <a:ln/>
        </p:spPr>
      </p:sp>
      <p:sp>
        <p:nvSpPr>
          <p:cNvPr id="9" name="Shape 7"/>
          <p:cNvSpPr/>
          <p:nvPr/>
        </p:nvSpPr>
        <p:spPr>
          <a:xfrm>
            <a:off x="4584192" y="2130552"/>
            <a:ext cx="2993136" cy="384048"/>
          </a:xfrm>
          <a:prstGeom prst="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4584192" y="2130552"/>
            <a:ext cx="2993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 — NEXT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20768" y="2743200"/>
            <a:ext cx="29565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 memory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Ariba/SAP/Icertis API integration (not static exports)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UNSPSC classification for new items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Supplier-onboarding workflow actions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Thumbs-up/down feedback → eval set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spend-anomaly alerts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7680" y="1874520"/>
            <a:ext cx="3505200" cy="4251960"/>
          </a:xfrm>
          <a:prstGeom prst="rect">
            <a:avLst>
              <a:gd name="adj" fmla="val 1565"/>
            </a:avLst>
          </a:prstGeom>
          <a:solidFill>
            <a:srgbClr val="EEF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3712" y="2130552"/>
            <a:ext cx="2993136" cy="384048"/>
          </a:xfrm>
          <a:prstGeom prst="rect">
            <a:avLst>
              <a:gd name="adj" fmla="val 50000"/>
            </a:avLst>
          </a:prstGeom>
          <a:solidFill>
            <a:srgbClr val="5C7189"/>
          </a:solidFill>
          <a:ln/>
        </p:spPr>
      </p:sp>
      <p:sp>
        <p:nvSpPr>
          <p:cNvPr id="14" name="Text 12"/>
          <p:cNvSpPr/>
          <p:nvPr/>
        </p:nvSpPr>
        <p:spPr>
          <a:xfrm>
            <a:off x="8363712" y="2130552"/>
            <a:ext cx="2993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3 — SCALE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00288" y="2743200"/>
            <a:ext cx="29565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department/role-scoped data access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financial guardrails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 to L2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automated eval pipeline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latency optimization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Copilot — Novartis Case Study REQ-10069230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deterministic router graph, not a free-running agent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788920"/>
            <a:ext cx="1417320" cy="1417320"/>
          </a:xfrm>
          <a:prstGeom prst="rect">
            <a:avLst>
              <a:gd name="adj" fmla="val 4516"/>
            </a:avLst>
          </a:prstGeom>
          <a:solidFill>
            <a:srgbClr val="0F2D52"/>
          </a:solidFill>
          <a:ln/>
        </p:spPr>
      </p:sp>
      <p:sp>
        <p:nvSpPr>
          <p:cNvPr id="5" name="Shape 3"/>
          <p:cNvSpPr/>
          <p:nvPr/>
        </p:nvSpPr>
        <p:spPr>
          <a:xfrm>
            <a:off x="918972" y="2935224"/>
            <a:ext cx="585216" cy="58521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198" y="3005450"/>
            <a:ext cx="444764" cy="444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63016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965960" y="3396996"/>
            <a:ext cx="320040" cy="20116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9" name="Shape 6"/>
          <p:cNvSpPr/>
          <p:nvPr/>
        </p:nvSpPr>
        <p:spPr>
          <a:xfrm>
            <a:off x="2331720" y="2788920"/>
            <a:ext cx="1600200" cy="1417320"/>
          </a:xfrm>
          <a:prstGeom prst="rect">
            <a:avLst>
              <a:gd name="adj" fmla="val 4516"/>
            </a:avLst>
          </a:prstGeom>
          <a:solidFill>
            <a:srgbClr val="00C2A8"/>
          </a:solidFill>
          <a:ln/>
        </p:spPr>
      </p:sp>
      <p:sp>
        <p:nvSpPr>
          <p:cNvPr id="10" name="Shape 7"/>
          <p:cNvSpPr/>
          <p:nvPr/>
        </p:nvSpPr>
        <p:spPr>
          <a:xfrm>
            <a:off x="2839212" y="2935224"/>
            <a:ext cx="585216" cy="58521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438" y="3005450"/>
            <a:ext cx="444764" cy="4447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77440" y="363016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(classify)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977640" y="3396996"/>
            <a:ext cx="320040" cy="20116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4" name="Shape 10"/>
          <p:cNvSpPr/>
          <p:nvPr/>
        </p:nvSpPr>
        <p:spPr>
          <a:xfrm>
            <a:off x="4343400" y="2788920"/>
            <a:ext cx="2148840" cy="1417320"/>
          </a:xfrm>
          <a:prstGeom prst="rect">
            <a:avLst>
              <a:gd name="adj" fmla="val 4516"/>
            </a:avLst>
          </a:prstGeom>
          <a:solidFill>
            <a:srgbClr val="0F2D52"/>
          </a:solidFill>
          <a:ln/>
        </p:spPr>
      </p:sp>
      <p:sp>
        <p:nvSpPr>
          <p:cNvPr id="15" name="Shape 11"/>
          <p:cNvSpPr/>
          <p:nvPr/>
        </p:nvSpPr>
        <p:spPr>
          <a:xfrm>
            <a:off x="5125212" y="2935224"/>
            <a:ext cx="585216" cy="58521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438" y="3005450"/>
            <a:ext cx="444764" cy="4447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89120" y="363016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537960" y="3396996"/>
            <a:ext cx="320040" cy="20116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9" name="Shape 14"/>
          <p:cNvSpPr/>
          <p:nvPr/>
        </p:nvSpPr>
        <p:spPr>
          <a:xfrm>
            <a:off x="6903720" y="2788920"/>
            <a:ext cx="2148840" cy="1417320"/>
          </a:xfrm>
          <a:prstGeom prst="rect">
            <a:avLst>
              <a:gd name="adj" fmla="val 4516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7685532" y="2935224"/>
            <a:ext cx="585216" cy="585216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5758" y="3005450"/>
            <a:ext cx="444764" cy="4447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363016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Gate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(judge / deterministic)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098280" y="3396996"/>
            <a:ext cx="320040" cy="20116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4" name="Shape 18"/>
          <p:cNvSpPr/>
          <p:nvPr/>
        </p:nvSpPr>
        <p:spPr>
          <a:xfrm>
            <a:off x="9464040" y="2788920"/>
            <a:ext cx="2194560" cy="1417320"/>
          </a:xfrm>
          <a:prstGeom prst="rect">
            <a:avLst>
              <a:gd name="adj" fmla="val 4516"/>
            </a:avLst>
          </a:prstGeom>
          <a:solidFill>
            <a:srgbClr val="0F2D52"/>
          </a:solidFill>
          <a:ln/>
        </p:spPr>
      </p:sp>
      <p:sp>
        <p:nvSpPr>
          <p:cNvPr id="25" name="Shape 19"/>
          <p:cNvSpPr/>
          <p:nvPr/>
        </p:nvSpPr>
        <p:spPr>
          <a:xfrm>
            <a:off x="10268712" y="2935224"/>
            <a:ext cx="585216" cy="58521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938" y="3005450"/>
            <a:ext cx="444764" cy="4447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09760" y="363016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either QA check fails: safe fallback ("escalate to L2") instead of a guess — never a hallucinated answer.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picks POLICY, DATA, BOTH, or OUT_OF_SCOPE — only the relevant agent(s) run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Copilot — Novartis Case Study REQ-10069230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choice here traded flexibility for speed, cost, or safety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2011680"/>
          </a:xfrm>
          <a:prstGeom prst="rect">
            <a:avLst>
              <a:gd name="adj" fmla="val 2727"/>
            </a:avLst>
          </a:prstGeom>
          <a:solidFill>
            <a:srgbClr val="EEF3F8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12264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20" y="2173712"/>
            <a:ext cx="389169" cy="3891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7568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router, not an autonomous agent loop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2770632"/>
            <a:ext cx="4809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chooses its own tool sequence. Bounded cost, predictable latency, and the same question always takes the same code path — which is also what makes the eval harness meaningful.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874520"/>
            <a:ext cx="5394960" cy="2011680"/>
          </a:xfrm>
          <a:prstGeom prst="rect">
            <a:avLst>
              <a:gd name="adj" fmla="val 2727"/>
            </a:avLst>
          </a:prstGeom>
          <a:solidFill>
            <a:srgbClr val="EE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2112264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400" y="2173712"/>
            <a:ext cx="389169" cy="3891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07568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QA strategies, not one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10528" y="2770632"/>
            <a:ext cx="4809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answers are free text → an LLM-judge checks groundedness. SQL answers already have their ground truth in the result set → a deterministic check is cheaper and more reliable than asking a second LLM to re-verify a fact it can just read.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394960" cy="2011680"/>
          </a:xfrm>
          <a:prstGeom prst="rect">
            <a:avLst>
              <a:gd name="adj" fmla="val 2727"/>
            </a:avLst>
          </a:prstGeom>
          <a:solidFill>
            <a:srgbClr val="EEF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4352544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20" y="4413992"/>
            <a:ext cx="389169" cy="3891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31596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Brute-force vector search, not a vector DB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1248" y="5010912"/>
            <a:ext cx="4809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~1,950 chunks → linear cosine similarity is under 50ms. Adding FAISS/Pinecone here would be infra for infra's sake. Explicitly scale-limited to ~50-100K chunks — iteration 2's problem, not this one's.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4114800"/>
            <a:ext cx="5394960" cy="2011680"/>
          </a:xfrm>
          <a:prstGeom prst="rect">
            <a:avLst>
              <a:gd name="adj" fmla="val 2727"/>
            </a:avLst>
          </a:prstGeom>
          <a:solidFill>
            <a:srgbClr val="EEF3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473952" y="4352544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400" y="4413992"/>
            <a:ext cx="389169" cy="3891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31596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Guarded text-to-SQL, not code execution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510528" y="5010912"/>
            <a:ext cx="4809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SQL is validated (single SELECT, no DDL/DML, no chaining) and runs read-only. Far smaller attack surface than letting a model write and execute arbitrary pandas code.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Copilot — Novartis Case Study REQ-10069230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under real conditions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source data fought back — here's what that surfaced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417320"/>
          </a:xfrm>
          <a:prstGeom prst="rect">
            <a:avLst>
              <a:gd name="adj" fmla="val 3871"/>
            </a:avLst>
          </a:prstGeom>
          <a:solidFill>
            <a:srgbClr val="EEF3F8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253996"/>
            <a:ext cx="658368" cy="658368"/>
          </a:xfrm>
          <a:prstGeom prst="ellipse">
            <a:avLst/>
          </a:prstGeom>
          <a:solidFill>
            <a:srgbClr val="E893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252" y="2333000"/>
            <a:ext cx="500360" cy="50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20824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 CSV "had" 376,876 rows. It actually has ~152,451.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478024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-l overcounts because the Location column embeds literal newlines inside quoted values. Verified the true count by cross-checking DuckDB's parse against Python's own csv module — they agree within 14 rows.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11064240" cy="1417320"/>
          </a:xfrm>
          <a:prstGeom prst="rect">
            <a:avLst>
              <a:gd name="adj" fmla="val 3871"/>
            </a:avLst>
          </a:prstGeom>
          <a:solidFill>
            <a:srgbClr val="EE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841248" y="3854196"/>
            <a:ext cx="658368" cy="658368"/>
          </a:xfrm>
          <a:prstGeom prst="ellipse">
            <a:avLst/>
          </a:prstGeom>
          <a:solidFill>
            <a:srgbClr val="E893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252" y="3933200"/>
            <a:ext cx="500360" cy="500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621024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source PDF was silently corrupted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783080" y="4078224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Pharma_UNSPSC_Thresholds.pdf — the exact file with per-country spend thresholds — had a broken trailer reference. Both pypdf and PyMuPDF refused to open it. Patched the specific off-by-one object reference instead of dropping the file.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5074920"/>
            <a:ext cx="11064240" cy="1417320"/>
          </a:xfrm>
          <a:prstGeom prst="rect">
            <a:avLst>
              <a:gd name="adj" fmla="val 3871"/>
            </a:avLst>
          </a:prstGeom>
          <a:solidFill>
            <a:srgbClr val="0B2545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" y="5454396"/>
            <a:ext cx="658368" cy="65836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252" y="5533400"/>
            <a:ext cx="500360" cy="500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221224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QA gate caught something real, not hypothetical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83080" y="5678424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$70k laptop question retrieves a policy slide that literally says "Value above $[C]" — an unresolved template placeholder in the source deck. The groundedness judge refused to treat that as a real number and failed the answer instead of inventing a threshold.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Copilot — Novartis Case Study REQ-10069230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measured it, on a deliberately hard question set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492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828800"/>
            <a:ext cx="4251960" cy="1234440"/>
          </a:xfrm>
          <a:prstGeom prst="rect">
            <a:avLst>
              <a:gd name="adj" fmla="val 4444"/>
            </a:avLst>
          </a:prstGeom>
          <a:solidFill>
            <a:srgbClr val="EEF3F8"/>
          </a:solidFill>
          <a:ln/>
        </p:spPr>
      </p:sp>
      <p:sp>
        <p:nvSpPr>
          <p:cNvPr id="6" name="Text 3"/>
          <p:cNvSpPr/>
          <p:nvPr/>
        </p:nvSpPr>
        <p:spPr>
          <a:xfrm>
            <a:off x="7616952" y="1938528"/>
            <a:ext cx="3739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 / 5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616952" y="2450592"/>
            <a:ext cx="3739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answer relevance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616952" y="2724912"/>
            <a:ext cx="3739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LLM-judge axis: does the answer address the question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60920" y="3246120"/>
            <a:ext cx="4251960" cy="1234440"/>
          </a:xfrm>
          <a:prstGeom prst="rect">
            <a:avLst>
              <a:gd name="adj" fmla="val 4444"/>
            </a:avLst>
          </a:prstGeom>
          <a:solidFill>
            <a:srgbClr val="EEF3F8"/>
          </a:solidFill>
          <a:ln/>
        </p:spPr>
      </p:sp>
      <p:sp>
        <p:nvSpPr>
          <p:cNvPr id="10" name="Text 7"/>
          <p:cNvSpPr/>
          <p:nvPr/>
        </p:nvSpPr>
        <p:spPr>
          <a:xfrm>
            <a:off x="7616952" y="3355848"/>
            <a:ext cx="3739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3.6s / 6.8s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616952" y="3867912"/>
            <a:ext cx="3739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— p50 / p95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16952" y="4142232"/>
            <a:ext cx="3739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pipeline, including QA verification calls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60920" y="4663440"/>
            <a:ext cx="4251960" cy="1234440"/>
          </a:xfrm>
          <a:prstGeom prst="rect">
            <a:avLst>
              <a:gd name="adj" fmla="val 4444"/>
            </a:avLst>
          </a:prstGeom>
          <a:solidFill>
            <a:srgbClr val="EEF3F8"/>
          </a:solidFill>
          <a:ln/>
        </p:spPr>
      </p:sp>
      <p:sp>
        <p:nvSpPr>
          <p:cNvPr id="14" name="Text 11"/>
          <p:cNvSpPr/>
          <p:nvPr/>
        </p:nvSpPr>
        <p:spPr>
          <a:xfrm>
            <a:off x="7616952" y="4773168"/>
            <a:ext cx="3739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616952" y="5285232"/>
            <a:ext cx="3739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refusal correctness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616952" y="5559552"/>
            <a:ext cx="3739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hallucinated answers to unrelated questions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60533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set deliberately includes hard cases — an unresolved placeholder, thin retrieval coverage, an undocumented term — so the QA gate's refusals show up honestly, not just easy wins.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Copilot — Novartis Case Study REQ-10069230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335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in one focused session: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188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→ multi-agent backend → UI → eval → live deploy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673352" cy="1188720"/>
          </a:xfrm>
          <a:prstGeom prst="rect">
            <a:avLst>
              <a:gd name="adj" fmla="val 4615"/>
            </a:avLst>
          </a:prstGeom>
          <a:solidFill>
            <a:srgbClr val="0F2D5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06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1399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embed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docs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78024" y="2514600"/>
            <a:ext cx="1673352" cy="1188720"/>
          </a:xfrm>
          <a:prstGeom prst="rect">
            <a:avLst>
              <a:gd name="adj" fmla="val 4615"/>
            </a:avLst>
          </a:prstGeom>
          <a:solidFill>
            <a:srgbClr val="0F2D52"/>
          </a:solidFill>
          <a:ln/>
        </p:spPr>
      </p:sp>
      <p:sp>
        <p:nvSpPr>
          <p:cNvPr id="9" name="Text 7"/>
          <p:cNvSpPr/>
          <p:nvPr/>
        </p:nvSpPr>
        <p:spPr>
          <a:xfrm>
            <a:off x="2615184" y="2606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15184" y="2971800"/>
            <a:ext cx="1399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152K+ rows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DuckDB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5968" y="2514600"/>
            <a:ext cx="1673352" cy="1188720"/>
          </a:xfrm>
          <a:prstGeom prst="rect">
            <a:avLst>
              <a:gd name="adj" fmla="val 4615"/>
            </a:avLst>
          </a:prstGeom>
          <a:solidFill>
            <a:srgbClr val="0F2D52"/>
          </a:solidFill>
          <a:ln/>
        </p:spPr>
      </p:sp>
      <p:sp>
        <p:nvSpPr>
          <p:cNvPr id="12" name="Text 10"/>
          <p:cNvSpPr/>
          <p:nvPr/>
        </p:nvSpPr>
        <p:spPr>
          <a:xfrm>
            <a:off x="4453128" y="2606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53128" y="2971800"/>
            <a:ext cx="1399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+ RAG +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QA agents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53912" y="2514600"/>
            <a:ext cx="1673352" cy="1188720"/>
          </a:xfrm>
          <a:prstGeom prst="rect">
            <a:avLst>
              <a:gd name="adj" fmla="val 4615"/>
            </a:avLst>
          </a:prstGeom>
          <a:solidFill>
            <a:srgbClr val="0F2D52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2606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91072" y="2971800"/>
            <a:ext cx="1399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with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pipeline trace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91856" y="2514600"/>
            <a:ext cx="1673352" cy="1188720"/>
          </a:xfrm>
          <a:prstGeom prst="rect">
            <a:avLst>
              <a:gd name="adj" fmla="val 4615"/>
            </a:avLst>
          </a:prstGeom>
          <a:solidFill>
            <a:srgbClr val="0F2D52"/>
          </a:solidFill>
          <a:ln/>
        </p:spPr>
      </p:sp>
      <p:sp>
        <p:nvSpPr>
          <p:cNvPr id="18" name="Text 16"/>
          <p:cNvSpPr/>
          <p:nvPr/>
        </p:nvSpPr>
        <p:spPr>
          <a:xfrm>
            <a:off x="8129016" y="2606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9016" y="2971800"/>
            <a:ext cx="1399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15-question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829800" y="2514600"/>
            <a:ext cx="1673352" cy="1188720"/>
          </a:xfrm>
          <a:prstGeom prst="rect">
            <a:avLst>
              <a:gd name="adj" fmla="val 4615"/>
            </a:avLst>
          </a:prstGeom>
          <a:solidFill>
            <a:srgbClr val="0F2D52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2606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66960" y="2971800"/>
            <a:ext cx="1399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10881360" cy="1737360"/>
          </a:xfrm>
          <a:prstGeom prst="rect">
            <a:avLst>
              <a:gd name="adj" fmla="val 4211"/>
            </a:avLst>
          </a:prstGeom>
          <a:solidFill>
            <a:srgbClr val="0F2D52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" y="448056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4557370"/>
            <a:ext cx="486461" cy="48646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920240" y="44348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novartis-assignment.vercel.app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766560" y="448056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370" y="4557370"/>
            <a:ext cx="486461" cy="486461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726680" y="43434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docs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github.com/janakiramvit/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procurement-genai-case-study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85800" y="60167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walk through any part of the pipeline live.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Copilot — Novartis Case Study REQ-10069230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2026-07-20T20:41:21Z</dcterms:created>
  <dcterms:modified xsi:type="dcterms:W3CDTF">2026-07-20T20:41:21Z</dcterms:modified>
</cp:coreProperties>
</file>